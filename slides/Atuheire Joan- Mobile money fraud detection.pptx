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hOm2MTq0DBx+UxMJbPOhsJSU3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6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648B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680960" y="3200400"/>
            <a:ext cx="1828800" cy="1828800"/>
          </a:xfrm>
          <a:prstGeom prst="ellipse">
            <a:avLst/>
          </a:prstGeom>
          <a:solidFill>
            <a:srgbClr val="1648B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5029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Wave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E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AEE8"/>
                </a:solidFill>
                <a:latin typeface="Calibri"/>
                <a:ea typeface="Calibri"/>
                <a:cs typeface="Calibri"/>
                <a:sym typeface="Calibri"/>
              </a:rPr>
              <a:t>Mobile Money · Sénégal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32588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Fraud Detection in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Money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0358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BE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0BBE8"/>
                </a:solidFill>
                <a:latin typeface="Calibri"/>
                <a:ea typeface="Calibri"/>
                <a:cs typeface="Calibri"/>
                <a:sym typeface="Calibri"/>
              </a:rPr>
              <a:t>Machine Learning Predictive Model — Binary Classification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547872"/>
            <a:ext cx="1965960" cy="292608"/>
          </a:xfrm>
          <a:prstGeom prst="rect">
            <a:avLst/>
          </a:prstGeom>
          <a:solidFill>
            <a:srgbClr val="1648B0"/>
          </a:solidFill>
          <a:ln cap="flat" cmpd="sng" w="9525">
            <a:solidFill>
              <a:srgbClr val="3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354787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542032" y="3547872"/>
            <a:ext cx="1965960" cy="292608"/>
          </a:xfrm>
          <a:prstGeom prst="rect">
            <a:avLst/>
          </a:prstGeom>
          <a:solidFill>
            <a:srgbClr val="1648B0"/>
          </a:solidFill>
          <a:ln cap="flat" cmpd="sng" w="9525">
            <a:solidFill>
              <a:srgbClr val="3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542032" y="354787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626864" y="3547872"/>
            <a:ext cx="1965960" cy="292608"/>
          </a:xfrm>
          <a:prstGeom prst="rect">
            <a:avLst/>
          </a:prstGeom>
          <a:solidFill>
            <a:srgbClr val="1648B0"/>
          </a:solidFill>
          <a:ln cap="flat" cmpd="sng" w="9525">
            <a:solidFill>
              <a:srgbClr val="3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626864" y="354787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711696" y="3547872"/>
            <a:ext cx="1965960" cy="292608"/>
          </a:xfrm>
          <a:prstGeom prst="rect">
            <a:avLst/>
          </a:prstGeom>
          <a:solidFill>
            <a:srgbClr val="1648B0"/>
          </a:solidFill>
          <a:ln cap="flat" cmpd="sng" w="9525">
            <a:solidFill>
              <a:srgbClr val="3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711696" y="354787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Deployment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1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E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AEE8"/>
                </a:solidFill>
                <a:latin typeface="Calibri"/>
                <a:ea typeface="Calibri"/>
                <a:cs typeface="Calibri"/>
                <a:sym typeface="Calibri"/>
              </a:rPr>
              <a:t>Atuheire Joan  ·  Random Forest &amp; MLP Neural Network  ·  Senegal +221 Network  ·  Apr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B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was built, why it matters, and how it solves a real business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1143000"/>
            <a:ext cx="411480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57200" y="1143000"/>
            <a:ext cx="411480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11430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94360" y="1508760"/>
            <a:ext cx="3840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Fraudsters in Senegal use social engineering and SIM swap attacks to trick mobile money users into sending money to criminal-controlled accounts.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 the time the fraud is discovered, the money is already gone. There was no system to warn users before the transfer was completed.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94360" y="3127248"/>
            <a:ext cx="3840480" cy="256032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94360" y="31272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Real dataset: 34,178 confirmed fraud transactions · Dec 2021 – Sep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1143000"/>
            <a:ext cx="411480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54880" y="1143000"/>
            <a:ext cx="41148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754880" y="11430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92040" y="1563624"/>
            <a:ext cx="292608" cy="292608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92040" y="15636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85232" y="1508760"/>
            <a:ext cx="3429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ML model classifies destination accounts as HIGH RISK or LOW RISK before a transfer is sent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92040" y="2221992"/>
            <a:ext cx="292608" cy="292608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92040" y="22219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285232" y="2167128"/>
            <a:ext cx="3429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API checks every transaction against the fraud registry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92040" y="2880360"/>
            <a:ext cx="292608" cy="292608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892040" y="28803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285232" y="2825496"/>
            <a:ext cx="3429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Wave app warns users before confirming a transfer to a risky account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92040" y="3538728"/>
            <a:ext cx="292608" cy="292608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892040" y="35387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285232" y="3483864"/>
            <a:ext cx="3429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Analyst dashboard lets fraud teams review, confirm, and dismiss flags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4498848"/>
            <a:ext cx="20574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57200" y="4608576"/>
            <a:ext cx="2057400" cy="326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34,178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57200" y="4843577"/>
            <a:ext cx="2057400" cy="225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Fraud transactions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633472" y="4498848"/>
            <a:ext cx="20574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633472" y="4608576"/>
            <a:ext cx="2057400" cy="326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4,809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633472" y="4843577"/>
            <a:ext cx="2057400" cy="225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Unique victims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809744" y="4498848"/>
            <a:ext cx="20574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809744" y="4608576"/>
            <a:ext cx="2057400" cy="326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4,264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809744" y="4843577"/>
            <a:ext cx="2057400" cy="225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Fraud accounts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986016" y="4498848"/>
            <a:ext cx="2057400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986016" y="4608576"/>
            <a:ext cx="2057400" cy="326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986016" y="4843577"/>
            <a:ext cx="2057400" cy="225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RF Model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Data Integrity &amp; Preparation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Clean, wrangled dataset — Python foundations applied throughout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Data Integrity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1143000"/>
            <a:ext cx="1600200" cy="292608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114300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103120" y="1143000"/>
            <a:ext cx="868680" cy="292608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103120" y="114300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017520" y="1143000"/>
            <a:ext cx="4343400" cy="292608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017520" y="114300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406640" y="1143000"/>
            <a:ext cx="777240" cy="292608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406640" y="114300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1435608"/>
            <a:ext cx="16002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12064" y="143560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VICTIM_MOBILE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103120" y="1435608"/>
            <a:ext cx="86868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2157984" y="143560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017520" y="1435608"/>
            <a:ext cx="43434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072384" y="143560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Phone number of the fraud victim (sender)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406640" y="1435608"/>
            <a:ext cx="77724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461504" y="143560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57200" y="1755648"/>
            <a:ext cx="16002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12064" y="175564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VICTIM_NAME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103120" y="1755648"/>
            <a:ext cx="86868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157984" y="175564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017520" y="1755648"/>
            <a:ext cx="43434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072384" y="175564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name of the fraud victim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406640" y="1755648"/>
            <a:ext cx="77724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7461504" y="175564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57200" y="2075688"/>
            <a:ext cx="16002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512064" y="207568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DEST_MOBILE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103120" y="2075688"/>
            <a:ext cx="86868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2157984" y="207568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017520" y="2075688"/>
            <a:ext cx="43434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3072384" y="207568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Destination phone number (fraudster account)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406640" y="2075688"/>
            <a:ext cx="77724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461504" y="207568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57200" y="2395728"/>
            <a:ext cx="16002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512064" y="239572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DEST_NAME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2103120" y="2395728"/>
            <a:ext cx="86868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2157984" y="239572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017520" y="2395728"/>
            <a:ext cx="43434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3072384" y="239572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Name registered to the destination account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406640" y="2395728"/>
            <a:ext cx="77724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461504" y="239572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57200" y="2715768"/>
            <a:ext cx="16002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512064" y="271576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DEVICE_NAME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2103120" y="2715768"/>
            <a:ext cx="86868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2157984" y="271576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017520" y="2715768"/>
            <a:ext cx="43434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3072384" y="271576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Display name of the device used in the transaction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406640" y="2715768"/>
            <a:ext cx="77724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7461504" y="271576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68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57200" y="3035808"/>
            <a:ext cx="16002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12064" y="303580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DEVICE_MODEL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2103120" y="3035808"/>
            <a:ext cx="86868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2157984" y="303580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017520" y="3035808"/>
            <a:ext cx="43434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072384" y="303580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Technical model name of the device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406640" y="3035808"/>
            <a:ext cx="77724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7461504" y="303580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57200" y="3355848"/>
            <a:ext cx="16002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512064" y="335584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DEVICE_ID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103120" y="3355848"/>
            <a:ext cx="86868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157984" y="335584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017520" y="3355848"/>
            <a:ext cx="43434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3072384" y="335584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Unique hardware identifier of the device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7406640" y="3355848"/>
            <a:ext cx="77724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7461504" y="335584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57200" y="3675888"/>
            <a:ext cx="16002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512064" y="367588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AMOUNT_OF_SCAMS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2103120" y="3675888"/>
            <a:ext cx="86868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2157984" y="367588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017520" y="3675888"/>
            <a:ext cx="434340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3072384" y="367588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Amount transferred in CFA Francs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7406640" y="3675888"/>
            <a:ext cx="777240" cy="3017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7461504" y="367588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457200" y="3995928"/>
            <a:ext cx="16002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512064" y="399592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DATE_SCAMS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103120" y="3995928"/>
            <a:ext cx="86868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2157984" y="3995928"/>
            <a:ext cx="758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Datetime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3017520" y="3995928"/>
            <a:ext cx="434340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3072384" y="3995928"/>
            <a:ext cx="42336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Timestamp of when the fraudulent transfer occurred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7406640" y="3995928"/>
            <a:ext cx="77724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461504" y="3995928"/>
            <a:ext cx="667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57200" y="4325112"/>
            <a:ext cx="822960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457200" y="4325112"/>
            <a:ext cx="822960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457200" y="432511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 STEPS APPLIED (Python / pandas)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548640" y="4617720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Filled 68 nulls in DEVICE_NAME → 'Unknown'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48640" y="4764024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Filled 12 nulls in DEVICE_MODEL → 'Unknown'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548640" y="4910328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Converted DEST_MOBILE &amp; VICTIM_MOBILE to string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4663440" y="4617720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Extracted hour, day_of_week, month, year from DATE_SCAMS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4663440" y="4764024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Removed duplicate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663440" y="4910328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Grouped by DEST_MOBILE to build destination-level feature matrix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Automated Data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End-to-end pipeline that runs on a daily schedule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256032" y="1188720"/>
            <a:ext cx="1188720" cy="96012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256032" y="1243584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256032" y="188366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34,178 rows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1472184" y="1517904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682496" y="1188720"/>
            <a:ext cx="1188720" cy="960120"/>
          </a:xfrm>
          <a:prstGeom prst="rect">
            <a:avLst/>
          </a:prstGeom>
          <a:solidFill>
            <a:srgbClr val="1A56D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1682496" y="1243584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 &amp;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Wrangle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1682496" y="188366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pandas/Python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2898648" y="1517904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108960" y="1188720"/>
            <a:ext cx="1188720" cy="96012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3108960" y="1243584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108960" y="188366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10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325112" y="1517904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535424" y="1188720"/>
            <a:ext cx="1188720" cy="960120"/>
          </a:xfrm>
          <a:prstGeom prst="rect">
            <a:avLst/>
          </a:prstGeom>
          <a:solidFill>
            <a:srgbClr val="0F2D6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4535424" y="1243584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4535424" y="188366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Rnd Forest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751576" y="1517904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5961888" y="1188720"/>
            <a:ext cx="1188720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5961888" y="1243584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Registry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5961888" y="188366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CSV refresh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7178040" y="1517904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7388352" y="1188720"/>
            <a:ext cx="1188720" cy="96012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7388352" y="1243584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Serves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Results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7388352" y="188366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Flask REST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457200" y="2331720"/>
            <a:ext cx="822960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457200" y="2331720"/>
            <a:ext cx="822960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457200" y="23317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SCHEDULER — pipeline_scheduler.py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640080" y="265176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56DB"/>
                </a:solidFill>
                <a:latin typeface="Consolas"/>
                <a:ea typeface="Consolas"/>
                <a:cs typeface="Consolas"/>
                <a:sym typeface="Consolas"/>
              </a:rPr>
              <a:t>schedule.every().day.at("02:00").do(run_pipeline)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←  runs automatically every day at 02:00 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57200" y="342900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457200" y="3429000"/>
            <a:ext cx="411480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457200" y="34290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 (10 features)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594360" y="373075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victim_count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594360" y="39959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total_amount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594360" y="426110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avg_amount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594360" y="45262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max_amount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594360" y="4791456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min_amount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2651760" y="373075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device_count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2651760" y="39959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tx_count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2651760" y="426110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active_days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2651760" y="45262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avg_amount_per_victim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2651760" y="4791456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▸  device_per_victim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4754880" y="342900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4754880" y="3429000"/>
            <a:ext cx="411480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4754880" y="34290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DEFINITION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892040" y="3767328"/>
            <a:ext cx="3840480" cy="566928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4983480" y="3767328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HIGH RISK (1) 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≥ 2 unique victims  OR  ≥ 300,000 CFA total stolen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4892040" y="4407408"/>
            <a:ext cx="3840480" cy="566928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4983480" y="4407408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LOW RISK (0) 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other destination accounts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4892040" y="5029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Class balance: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6263640" y="5047488"/>
            <a:ext cx="221284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"/>
          <p:cNvSpPr/>
          <p:nvPr/>
        </p:nvSpPr>
        <p:spPr>
          <a:xfrm>
            <a:off x="6263640" y="5047488"/>
            <a:ext cx="22128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53.7%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8494776" y="5047488"/>
            <a:ext cx="1901952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8476488" y="5047488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46.3%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EDA — Univariate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Analysing individual variables to uncover fraud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457200" y="1097280"/>
            <a:ext cx="411480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457200" y="1097280"/>
            <a:ext cx="411480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457200" y="10972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1 — AMOUNT DISTRIBUTION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viz/Univariate Amount distribution.png" id="244" name="Google Shape;2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353312"/>
            <a:ext cx="402336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"/>
          <p:cNvSpPr/>
          <p:nvPr/>
        </p:nvSpPr>
        <p:spPr>
          <a:xfrm>
            <a:off x="548640" y="395935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 transfers cluster 20K–200K CFA (median 50,500). High-value outliers above 1M CFA suggest targeted attacks on wealthier victims.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754880" y="1097280"/>
            <a:ext cx="411480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4754880" y="1097280"/>
            <a:ext cx="411480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4754880" y="10972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2 — FRAUD BY HOUR OF 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viz/Univariate - Fraud By hour by day.png" id="249" name="Google Shape;2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353312"/>
            <a:ext cx="402336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"/>
          <p:cNvSpPr/>
          <p:nvPr/>
        </p:nvSpPr>
        <p:spPr>
          <a:xfrm>
            <a:off x="4846320" y="395935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Fraud peaks at 12:00 noon. Near-zero activity midnight–06:00 confirms fraudsters operate when victims are awake and most reachable.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B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EDA — Multivariate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Analysing relationships between multiple variables simultaneously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457200" y="1097280"/>
            <a:ext cx="411480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457200" y="1097280"/>
            <a:ext cx="411480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457200" y="10972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3 — VICTIM COUNT VS TOTAL AMOUNT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viz/multivariate- Victim Count vs Total Amount per Destination.png" id="263" name="Google Shape;2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353312"/>
            <a:ext cx="402336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6"/>
          <p:cNvSpPr/>
          <p:nvPr/>
        </p:nvSpPr>
        <p:spPr>
          <a:xfrm>
            <a:off x="548640" y="395935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 RISK accounts cluster at higher victim counts and larger total amounts. The clear separation confirms our target definition is meaningful.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4754880" y="1097280"/>
            <a:ext cx="411480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4754880" y="1097280"/>
            <a:ext cx="411480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4754880" y="10972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4 — HOUR × DAY-OF-WEEK HEATMAP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viz/multivariate-Hour × Day-of-Week Heatmap.png" id="268" name="Google Shape;2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353312"/>
            <a:ext cx="402336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6"/>
          <p:cNvSpPr/>
          <p:nvPr/>
        </p:nvSpPr>
        <p:spPr>
          <a:xfrm>
            <a:off x="4846320" y="395935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Fraud concentrates mid-week during daytime hours. Combined patterns reveal insights invisible in single-variable analysis.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B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Both models achieve production-grade performance on the fraud detection task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ML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57200" y="1143000"/>
            <a:ext cx="1755648" cy="34747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457200" y="1143000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2286000" y="1143000"/>
            <a:ext cx="2487168" cy="34747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2286000" y="114300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846320" y="1143000"/>
            <a:ext cx="2487168" cy="34747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4846320" y="114300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MLP Neural Network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57200" y="1490472"/>
            <a:ext cx="175564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530352" y="1490472"/>
            <a:ext cx="1682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2286000" y="1490472"/>
            <a:ext cx="248716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2359152" y="1490472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100.00%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846320" y="1490472"/>
            <a:ext cx="248716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4919472" y="1490472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99.77%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57200" y="1828800"/>
            <a:ext cx="1755648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530352" y="1828800"/>
            <a:ext cx="1682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2286000" y="1828800"/>
            <a:ext cx="2487168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2359152" y="1828800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100.00%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846320" y="1828800"/>
            <a:ext cx="2487168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4919472" y="1828800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99.78%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57200" y="2167128"/>
            <a:ext cx="175564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530352" y="2167128"/>
            <a:ext cx="1682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2286000" y="2167128"/>
            <a:ext cx="248716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2359152" y="2167128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100.00%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846320" y="2167128"/>
            <a:ext cx="248716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4919472" y="2167128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99.78%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457200" y="2505456"/>
            <a:ext cx="1755648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530352" y="2505456"/>
            <a:ext cx="1682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2286000" y="2505456"/>
            <a:ext cx="2487168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2359152" y="2505456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100.00%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4846320" y="2505456"/>
            <a:ext cx="2487168" cy="3200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4919472" y="2505456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99.78%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57200" y="2843784"/>
            <a:ext cx="175564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530352" y="2843784"/>
            <a:ext cx="1682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2286000" y="2843784"/>
            <a:ext cx="248716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2359152" y="2843784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4846320" y="2843784"/>
            <a:ext cx="2487168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4919472" y="2843784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0.9998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457200" y="3218688"/>
            <a:ext cx="7059168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457200" y="3218688"/>
            <a:ext cx="7059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 Best Model: Random Forest  (AUC = 1.0000  |  Accuracy = 100%  |  Zero misclassifications)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7516368" y="1143000"/>
            <a:ext cx="1417320" cy="23591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7516368" y="1143000"/>
            <a:ext cx="141732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7516368" y="114300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viz/ROC Curves — compare both models visually.png" id="320" name="Google Shape;3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4656" y="1399032"/>
            <a:ext cx="1380744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7"/>
          <p:cNvSpPr/>
          <p:nvPr/>
        </p:nvSpPr>
        <p:spPr>
          <a:xfrm>
            <a:off x="457200" y="3566160"/>
            <a:ext cx="406908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457200" y="3566160"/>
            <a:ext cx="40690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457200" y="356616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 MATRIX — RANDOM FOREST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viz/confusion matrix for Random Forest.png" id="324" name="Google Shape;3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822192"/>
            <a:ext cx="3977640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7"/>
          <p:cNvSpPr/>
          <p:nvPr/>
        </p:nvSpPr>
        <p:spPr>
          <a:xfrm>
            <a:off x="4754880" y="3566160"/>
            <a:ext cx="4069080" cy="1536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4754880" y="3566160"/>
            <a:ext cx="40690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4754880" y="356616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IMPORTANCE — RANDOM FOREST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viz/random forest- feature importance.png" id="328" name="Google Shape;32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3822192"/>
            <a:ext cx="397764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B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System Architecture &amp; Deployment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Live, functional system deployed on Hugging Face Spaces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Deployment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20040" y="1170432"/>
            <a:ext cx="1417320" cy="96012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320040" y="1225296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34,178 rows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320040" y="187452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Excel → pandas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1764792" y="1490472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2121408" y="1170432"/>
            <a:ext cx="1417320" cy="960120"/>
          </a:xfrm>
          <a:prstGeom prst="rect">
            <a:avLst/>
          </a:prstGeom>
          <a:solidFill>
            <a:srgbClr val="1A56D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2121408" y="1225296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Pipeline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2121408" y="187452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EDA → Features → Models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3566160" y="1490472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3922776" y="1170432"/>
            <a:ext cx="1417320" cy="96012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3922776" y="1225296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Registry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3922776" y="187452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4,264 accounts scored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5367528" y="1490472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5724144" y="1170432"/>
            <a:ext cx="1417320" cy="960120"/>
          </a:xfrm>
          <a:prstGeom prst="rect">
            <a:avLst/>
          </a:prstGeom>
          <a:solidFill>
            <a:srgbClr val="0F2D6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5724144" y="1225296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Flask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risk_status_api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5724144" y="187452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GET /risk-status/{phone}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7168896" y="1490472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7525512" y="1170432"/>
            <a:ext cx="1417320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7525512" y="1225296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Wave App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7525512" y="187452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Two live interfaces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57200" y="2331720"/>
            <a:ext cx="384048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457200" y="2331720"/>
            <a:ext cx="384048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548640" y="23317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Transaction Screen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594360" y="2715768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Wave-branded mobile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594360" y="3154680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Login → Send Money → Enter Amount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594360" y="3593592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Fraud check via API call (HIGH/LOW RISK)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94360" y="4032504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PIN entry → Transfer success screen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94360" y="4471416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Balance validation — cannot exceed CFA 245,800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846320" y="2331720"/>
            <a:ext cx="384048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4846320" y="2331720"/>
            <a:ext cx="3840480" cy="292608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4937760" y="23317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Fraud Analyst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983480" y="2715768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Live stats cards from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983480" y="3154680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Registry table — search, filter, 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4983480" y="3593592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Confirm or Dismiss flag per account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4983480" y="4032504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Full fraud profile modal per account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4983480" y="4471416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Real-time toast notifications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57200" y="5120640"/>
            <a:ext cx="8229600" cy="29260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B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6B"/>
                </a:solidFill>
                <a:latin typeface="Calibri"/>
                <a:ea typeface="Calibri"/>
                <a:cs typeface="Calibri"/>
                <a:sym typeface="Calibri"/>
              </a:rPr>
              <a:t>Business Insight &amp; Impact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this system solves a real-world problem for Wave and its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858000" y="2560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Business Case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57200" y="1143000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457200" y="1143000"/>
            <a:ext cx="4114800" cy="292608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566928" y="1143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Pre-Transfer Protection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594360" y="1490472"/>
            <a:ext cx="384048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Unlike traditional fraud detection that flags transactions after the fact, this system intervenes BEFORE money leaves the victim's account — the critical difference between prevention and recovery.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57200" y="3154680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457200" y="3154680"/>
            <a:ext cx="41148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566928" y="3154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Human-in-the-Loop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594360" y="3502152"/>
            <a:ext cx="384048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Analysts don't just see model outputs — they Confirm or Dismiss each flag, creating a feedback loop. Confirmed flags build the verified blacklist. Dismissed flags correct false positives and improve the model over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4846320" y="1143000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4846320" y="1143000"/>
            <a:ext cx="4114800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4956048" y="1143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Interpretable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983480" y="1490472"/>
            <a:ext cx="384048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feature importance chart shows total_amount and avg_amount_per_victim drive 67% of decisions. This is explainable to regulators and business stakeholders — not a black box.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846320" y="3154680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4846320" y="3154680"/>
            <a:ext cx="4114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4956048" y="3154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&amp; Scalable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983480" y="3502152"/>
            <a:ext cx="384048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REST API responds in milliseconds. Any mobile money platform can integrate it with a single GET request. The pipeline refreshes the registry automatically every day at 02:00 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6B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648B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1648B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Recommendations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57200" y="1005840"/>
            <a:ext cx="4114800" cy="1600200"/>
          </a:xfrm>
          <a:prstGeom prst="rect">
            <a:avLst/>
          </a:prstGeom>
          <a:solidFill>
            <a:srgbClr val="0A1F52"/>
          </a:solidFill>
          <a:ln cap="flat" cmpd="sng" w="9525">
            <a:solidFill>
              <a:srgbClr val="1648B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457200" y="1005840"/>
            <a:ext cx="146304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457200" y="10058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594360" y="13258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Clean, Wrangled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594360" y="16916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B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BE8"/>
                </a:solidFill>
                <a:latin typeface="Calibri"/>
                <a:ea typeface="Calibri"/>
                <a:cs typeface="Calibri"/>
                <a:sym typeface="Calibri"/>
              </a:rPr>
              <a:t>34,178 rows cleaned — nulls filled, types fixed, duplicates removed, time features extracted. Full data dictionary documented.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457200" y="2834640"/>
            <a:ext cx="4114800" cy="1600200"/>
          </a:xfrm>
          <a:prstGeom prst="rect">
            <a:avLst/>
          </a:prstGeom>
          <a:solidFill>
            <a:srgbClr val="0A1F52"/>
          </a:solidFill>
          <a:ln cap="flat" cmpd="sng" w="9525">
            <a:solidFill>
              <a:srgbClr val="1648B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457200" y="2834640"/>
            <a:ext cx="146304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457200" y="28346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594360" y="31546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Scheduled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594360" y="35204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B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BE8"/>
                </a:solidFill>
                <a:latin typeface="Calibri"/>
                <a:ea typeface="Calibri"/>
                <a:cs typeface="Calibri"/>
                <a:sym typeface="Calibri"/>
              </a:rPr>
              <a:t>Daily pipeline (02:00 AM) reloads data, recomputes features, rescores accounts and updates the risk registry CSV automatically.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846320" y="1005840"/>
            <a:ext cx="4114800" cy="1600200"/>
          </a:xfrm>
          <a:prstGeom prst="rect">
            <a:avLst/>
          </a:prstGeom>
          <a:solidFill>
            <a:srgbClr val="0A1F52"/>
          </a:solidFill>
          <a:ln cap="flat" cmpd="sng" w="9525">
            <a:solidFill>
              <a:srgbClr val="1648B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4846320" y="1005840"/>
            <a:ext cx="1463040" cy="2560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4846320" y="10058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4983480" y="13258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Real-World Fraud Prevention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983480" y="16916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B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BE8"/>
                </a:solidFill>
                <a:latin typeface="Calibri"/>
                <a:ea typeface="Calibri"/>
                <a:cs typeface="Calibri"/>
                <a:sym typeface="Calibri"/>
              </a:rPr>
              <a:t>Pre-transfer fraud detection for Senegal's +221 network. Human-in-the-loop analyst review with interpretable ML decisions.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846320" y="2834640"/>
            <a:ext cx="4114800" cy="1600200"/>
          </a:xfrm>
          <a:prstGeom prst="rect">
            <a:avLst/>
          </a:prstGeom>
          <a:solidFill>
            <a:srgbClr val="0A1F52"/>
          </a:solidFill>
          <a:ln cap="flat" cmpd="sng" w="9525">
            <a:solidFill>
              <a:srgbClr val="1648B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4846320" y="2834640"/>
            <a:ext cx="146304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4846320" y="28346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983480" y="31546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Functional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983480" y="35204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B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BE8"/>
                </a:solidFill>
                <a:latin typeface="Calibri"/>
                <a:ea typeface="Calibri"/>
                <a:cs typeface="Calibri"/>
                <a:sym typeface="Calibri"/>
              </a:rPr>
              <a:t>Flask REST API + Wave mobile app + Analyst dashboard</a:t>
            </a:r>
            <a:r>
              <a:rPr lang="en-US" sz="1000">
                <a:solidFill>
                  <a:srgbClr val="A0BBE8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000" u="none" cap="none" strike="noStrike">
                <a:solidFill>
                  <a:srgbClr val="A0BBE8"/>
                </a:solidFill>
                <a:latin typeface="Calibri"/>
                <a:ea typeface="Calibri"/>
                <a:cs typeface="Calibri"/>
                <a:sym typeface="Calibri"/>
              </a:rPr>
              <a:t>Fully functional end-to-end.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A1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457200" y="452628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E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AEE8"/>
                </a:solidFill>
                <a:latin typeface="Calibri"/>
                <a:ea typeface="Calibri"/>
                <a:cs typeface="Calibri"/>
                <a:sym typeface="Calibri"/>
              </a:rPr>
              <a:t>Fraud Detection in Mobile Money  ·  Atuheire Joan  ·  Senegal +221 Network  ·  Apr 30,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2026-04-28T20:24:01Z</dcterms:created>
  <dc:creator>Atuheire Joan</dc:creator>
</cp:coreProperties>
</file>